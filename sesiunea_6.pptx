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7" r:id="rId2"/>
    <p:sldId id="258" r:id="rId3"/>
    <p:sldId id="299" r:id="rId4"/>
    <p:sldId id="305" r:id="rId5"/>
    <p:sldId id="306" r:id="rId6"/>
    <p:sldId id="281" r:id="rId7"/>
    <p:sldId id="307" r:id="rId8"/>
    <p:sldId id="308" r:id="rId9"/>
    <p:sldId id="265" r:id="rId10"/>
    <p:sldId id="295" r:id="rId11"/>
    <p:sldId id="296" r:id="rId12"/>
    <p:sldId id="309" r:id="rId13"/>
    <p:sldId id="310" r:id="rId14"/>
    <p:sldId id="311" r:id="rId15"/>
    <p:sldId id="267" r:id="rId16"/>
  </p:sldIdLst>
  <p:sldSz cx="12192000" cy="6858000"/>
  <p:notesSz cx="6858000" cy="9144000"/>
  <p:embeddedFontLst>
    <p:embeddedFont>
      <p:font typeface="Jo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7" autoAdjust="0"/>
    <p:restoredTop sz="94660"/>
  </p:normalViewPr>
  <p:slideViewPr>
    <p:cSldViewPr snapToGrid="0">
      <p:cViewPr>
        <p:scale>
          <a:sx n="77" d="100"/>
          <a:sy n="77" d="100"/>
        </p:scale>
        <p:origin x="57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E78C53F-EDBA-2E3D-4599-F61B79F1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64D759A-5D27-80EE-92C3-E3225738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099787-8128-88FF-4AC8-256120553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0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2EAD086-209E-5E10-A2CA-45D5B717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DC43109C-18D4-F669-BF14-F397FE56D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14E5BC6-CCD0-48CA-A03B-EF1CED84D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055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83B68D8-DF5D-3463-9114-CBF6971B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0E7A3524-04A5-0C96-20C5-0B224CB7B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48923B94-415E-3832-6D98-2877D16F2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3851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4B13FE5-736C-4434-5939-CD021C29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E8E3CC6A-F8CD-8A4F-9A12-7C61F3E60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968D670-0BC6-9F39-D85C-4C473DC62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156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E45A77F-C208-FFEF-FF29-F2AD2FDC8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D5B7887-6BBA-C297-062D-A57031F75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E29AE4D0-1DFB-E737-219D-2B922B2260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957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F0B821E-5B0C-D75D-1369-8F8FFDE0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70C8EC5F-23D6-A204-71B5-E89B97A8A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68B2AFB9-688E-E4BA-FAA8-ACB0EEAD9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708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5889A3F8-4BFA-3CCB-8291-F28030AE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B1816156-1ED8-641E-DD23-284BA548C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47FA11B6-F735-6341-93A4-B8A86F18A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8338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E7583B53-80BA-40FE-1574-9BEF6C88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6546D378-95C6-E327-29DB-C03653D42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BA53329C-BB0D-C409-C349-A71C154E6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7230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 6</a:t>
            </a: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endParaRPr lang="ro-RO" sz="5400" b="1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sym typeface="Jost"/>
              </a:rPr>
              <a:t>ORCHESTRARE ȘI AUTOMATIZARE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Azure AI Foundry Overview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Prompt Management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Context Window &amp; Token Management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Retrieval Augmented Generation (RAG)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Backend Architecture for AI Applications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Hands-on: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Extinderea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chatbot-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existent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945B40A-6937-86EF-E1C0-E7EE57D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C9A09F9-55EA-8AF2-B282-C51412E8295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104A14A-60A6-64CA-E497-B6354EAB8FE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Azure AI Foundry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424A077-8FDB-DB0A-DBE4-66CDB5D283BB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141D0A56-ED9A-6815-2530-7BCD5B8D94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502FB06-8E70-C346-11F1-F840CBBA66B4}"/>
              </a:ext>
            </a:extLst>
          </p:cNvPr>
          <p:cNvSpPr txBox="1"/>
          <p:nvPr/>
        </p:nvSpPr>
        <p:spPr>
          <a:xfrm>
            <a:off x="869808" y="1395073"/>
            <a:ext cx="1098693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Azure AI Foundry oferă: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modele AI găzduite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management de endpoint-uri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monitorizare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evaluare modele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control acces și securitate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integrare cu aplicații enterprise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Azure AI Foundry este infrastructura. Agentul și logica aplicației rămân responsabilitatea noastră.</a:t>
            </a:r>
          </a:p>
        </p:txBody>
      </p:sp>
    </p:spTree>
    <p:extLst>
      <p:ext uri="{BB962C8B-B14F-4D97-AF65-F5344CB8AC3E}">
        <p14:creationId xmlns:p14="http://schemas.microsoft.com/office/powerpoint/2010/main" val="29327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5DBE8FA-8174-E369-7972-586CD6FF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F1901A9-8A04-1893-6F8C-7F4E481CB83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8B2CE971-9BBC-4C4F-EBC7-ADDB8F092F63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Prompt Management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ECDFBED-8515-0617-E366-F0A9E6007CC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7DBD5975-63C6-0D27-1969-C3A15D6924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8BB79568-2F20-250A-0E1C-12769E7DCD98}"/>
              </a:ext>
            </a:extLst>
          </p:cNvPr>
          <p:cNvSpPr txBox="1"/>
          <p:nvPr/>
        </p:nvSpPr>
        <p:spPr>
          <a:xfrm>
            <a:off x="869808" y="1395073"/>
            <a:ext cx="10986939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Best practices:</a:t>
            </a:r>
          </a:p>
          <a:p>
            <a:pPr lvl="0">
              <a:lnSpc>
                <a:spcPct val="150000"/>
              </a:lnSpc>
            </a:pPr>
            <a:endParaRPr lang="ro-RO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prompturi separate de cod;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reutilizare;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versionare;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testare independentă.</a:t>
            </a:r>
          </a:p>
        </p:txBody>
      </p:sp>
    </p:spTree>
    <p:extLst>
      <p:ext uri="{BB962C8B-B14F-4D97-AF65-F5344CB8AC3E}">
        <p14:creationId xmlns:p14="http://schemas.microsoft.com/office/powerpoint/2010/main" val="408607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B46C815-5B37-ACCB-BA95-62D0DD37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C535C41F-8ADF-314A-39B0-6194E0ACECA0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7C29F012-272D-A22D-603C-97268023AA9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Context Window &amp; Token Management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3C61C06E-9A77-51E5-3575-541A1418715F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BD20EC81-7FAB-AA07-7A00-E49DD2C362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C64CE81-512A-FD2D-4214-9E8FCF0E93D2}"/>
              </a:ext>
            </a:extLst>
          </p:cNvPr>
          <p:cNvSpPr txBox="1"/>
          <p:nvPr/>
        </p:nvSpPr>
        <p:spPr>
          <a:xfrm>
            <a:off x="869808" y="1395073"/>
            <a:ext cx="4901727" cy="4939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 Context Window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[Prompt]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[Facts]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[Procedures]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[User Question]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Problema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Context prea mare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↓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Cost mai mare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↓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Performanță mai slabă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↓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Informații ignorate</a:t>
            </a: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74DE2A77-0F8F-133F-B0AC-0623420BBC87}"/>
              </a:ext>
            </a:extLst>
          </p:cNvPr>
          <p:cNvSpPr txBox="1"/>
          <p:nvPr/>
        </p:nvSpPr>
        <p:spPr>
          <a:xfrm>
            <a:off x="5604040" y="3686441"/>
            <a:ext cx="4901727" cy="2077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Soluții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Always_load management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+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Semantic Search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+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Top N Chunks</a:t>
            </a:r>
          </a:p>
        </p:txBody>
      </p:sp>
    </p:spTree>
    <p:extLst>
      <p:ext uri="{BB962C8B-B14F-4D97-AF65-F5344CB8AC3E}">
        <p14:creationId xmlns:p14="http://schemas.microsoft.com/office/powerpoint/2010/main" val="37347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Azure AI Foundry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6191CF4A-5874-39A8-8D85-2C93C126763C}"/>
              </a:ext>
            </a:extLst>
          </p:cNvPr>
          <p:cNvSpPr txBox="1"/>
          <p:nvPr/>
        </p:nvSpPr>
        <p:spPr>
          <a:xfrm>
            <a:off x="731296" y="1006406"/>
            <a:ext cx="10986939" cy="701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Formate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utilizate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frecvent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aplicațiile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AI</a:t>
            </a: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JSON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Structurat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Cheie -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valoare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CSV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tabelare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Separatoare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new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cell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&amp; new line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PDF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</a:t>
            </a: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ocumente nestructurate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Scopul nostru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Transformarea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datelor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din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fișiere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 care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procesat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un LLM.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3F79970-0CAE-3D0A-A75E-7D696A6C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54A1749A-0820-843D-FD5A-A1B71D0DD001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7D1AFDDA-5499-66D3-7180-13674A1136D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RAG (Retrieval </a:t>
            </a:r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Augumented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Generation)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2A25D8C-CD15-FB6D-8B1F-6ADF09BFF0E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5B1EEDBA-13FC-1ADF-6904-E446AEFF7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46676CE2-871E-4389-3602-B298A99FBB1B}"/>
              </a:ext>
            </a:extLst>
          </p:cNvPr>
          <p:cNvSpPr txBox="1"/>
          <p:nvPr/>
        </p:nvSpPr>
        <p:spPr>
          <a:xfrm>
            <a:off x="549965" y="868752"/>
            <a:ext cx="1109207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Question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Embedding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Semantic Search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Top Chunks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Prompt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LLM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Answer</a:t>
            </a:r>
          </a:p>
          <a:p>
            <a:pPr lvl="0" algn="ctr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trimitem toată baza de cunoștințe către model. Trimitem doar informația relevantă.</a:t>
            </a:r>
          </a:p>
        </p:txBody>
      </p:sp>
    </p:spTree>
    <p:extLst>
      <p:ext uri="{BB962C8B-B14F-4D97-AF65-F5344CB8AC3E}">
        <p14:creationId xmlns:p14="http://schemas.microsoft.com/office/powerpoint/2010/main" val="344335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D091AB01-6B60-D2FC-3D89-0E2A6275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DD2E5E10-007C-FD73-85D2-23149990FC51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22C359ED-7A6D-FBC2-880E-7073DE2623CF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Backend Architecture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9380379-3372-9592-7FCF-3324B489F02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C4D44ECA-DAB0-3A23-2CDB-38516763C2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383FC4AE-9BCC-1D54-78F6-1EA78D7DE61E}"/>
              </a:ext>
            </a:extLst>
          </p:cNvPr>
          <p:cNvSpPr txBox="1"/>
          <p:nvPr/>
        </p:nvSpPr>
        <p:spPr>
          <a:xfrm>
            <a:off x="549965" y="868752"/>
            <a:ext cx="1109207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User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Agent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Conversation Context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Knowledge Base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Embedding Search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LLM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↓</a:t>
            </a: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Response</a:t>
            </a:r>
          </a:p>
          <a:p>
            <a:pPr lvl="0" algn="ctr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Acesta este backend-ul unui chatbot modern.</a:t>
            </a:r>
          </a:p>
        </p:txBody>
      </p:sp>
    </p:spTree>
    <p:extLst>
      <p:ext uri="{BB962C8B-B14F-4D97-AF65-F5344CB8AC3E}">
        <p14:creationId xmlns:p14="http://schemas.microsoft.com/office/powerpoint/2010/main" val="2010088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Numărarea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Tokenilor</a:t>
            </a:r>
            <a:endParaRPr lang="en-US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3" y="1080480"/>
            <a:ext cx="1034657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 un nou modul utils.py și implementați o funcție count_tokens(text) folosind biblioteca tiktoken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Cerințe: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Funcția trebuie să primească un text și să returneze numărul de tokeni.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Funcția trebuie să poată fi utilizată în orice componentă a aplicației.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Testați funcția folosind mai multe texte și afișați rezultatele.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 așteptat: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trebuie să puteți calcula dimensiunea oricărui prompt sau mesaj exprimată în tokeni.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2 –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Monitorizarea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consumului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endParaRPr lang="en-GB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lang="ro-RO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2 –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Monitorizarea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consumului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conversation_context.py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două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atribute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input_tokens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output_tokens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Ambele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inițializate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valoarea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0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count_tokens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calcula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dimensiunea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mesajelor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trimise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către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model.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Actualizați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input_tokens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request.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Actualizați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output_tokens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la model.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Păstrați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acumularea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întreaga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durată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așteptat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orice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moment al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puteți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determina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total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trimiși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către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model;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total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tokeni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model.</a:t>
            </a:r>
            <a:endParaRPr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Estimarea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costurilor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843199" y="910326"/>
            <a:ext cx="10346575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 fișierul config.py și definiți două constante INPUT_TOKEN_PRICE_PER_MILLION și OUTPUT_TOKEN_PRICE_PER_MILLION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 următoarele valori orientative INPUT_TOKEN_PRICE_PER_MILLION = 2.0 și OUTPUT_TOKEN_PRICE_PER_MILLION = 10.0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Cerințe: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Calculați costul total al conversației folosind valorile acumulate în ConversationContext.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Costul trebuie să includă atât tokenii de input, cât și tokenii de output.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După fiecare mesaj afișați: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input tokens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output tokens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total cost estimat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Costul total poate fi calculat folosind formula: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input_tokens / 1_000_000 * INPUT_TOKEN_PRICE_PER_MILLION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+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output_tokens / 1_000_000 * OUTPUT_TOKEN_PRICE_PER_MILLION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 așteptat: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 fiecare interacțiune utilizatorul trebuie să poată vedea consumul total de tokeni și costul estimat al conversației.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0965EF73-1782-AE89-0AB3-071DA18F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B312E99B-5844-CE96-E333-F160AD81C31A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328DF5B1-5847-C211-E071-569FF3ED7581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D19BE353-32E7-1844-CD1F-361B8680FB75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PROJECT REQUIREMENTS (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Mandatory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- 10p)</a:t>
            </a: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B26672E4-6F16-1626-27F8-239BF2808D8D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B0771B52-2255-294E-E9AA-84662E2DFB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A9F2EB2-DC21-134E-1ACF-1EC4AC99605A}"/>
              </a:ext>
            </a:extLst>
          </p:cNvPr>
          <p:cNvSpPr txBox="1"/>
          <p:nvPr/>
        </p:nvSpPr>
        <p:spPr>
          <a:xfrm>
            <a:off x="843199" y="910326"/>
            <a:ext cx="10346575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ca proiectul să fie considerat complet, trebuie să implementeze toate funcționalitățile dezvoltate în cadrul laboratoarelor:</a:t>
            </a:r>
          </a:p>
          <a:p>
            <a:pPr lvl="0"/>
            <a:endParaRPr lang="ro-RO"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Agent cu personalitate proprie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Conversation Context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Dynamic System Prompt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Knowledge Base (Prompts, Facts, Procedures)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Registries pentru Facts și Procedures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Chunking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Embeddings Generation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Semantic Search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Retrieval-based Context Injection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Token Usage Tracking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Cost Estimation</a:t>
            </a:r>
          </a:p>
          <a:p>
            <a:pPr lvl="0"/>
            <a:endParaRPr lang="ro-RO"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 cerințele de mai sus reprezintă baza proiectului și valorează împreună 10p.</a:t>
            </a:r>
          </a:p>
          <a:p>
            <a:pPr lvl="0"/>
            <a:endParaRPr lang="ro-RO"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79400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BE23117-A05C-26FA-E068-4EC6ACC7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96BA4B30-719E-280D-BB96-AF81F17216A2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FE0F9605-DF48-59CB-9E30-CDAD9187E27D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6672215B-8C1D-6AE3-EBF3-44862E0E3683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REQUIRED EXTENSIONS (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până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la 12p)</a:t>
            </a: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2FEAC41C-850F-4AD3-4D6B-2DF3DF8ECC13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AE257C21-F1AF-ED79-32E7-9A17DCA29C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F1A6FCFF-ED8A-7506-E8B3-E635DA548001}"/>
              </a:ext>
            </a:extLst>
          </p:cNvPr>
          <p:cNvSpPr txBox="1"/>
          <p:nvPr/>
        </p:nvSpPr>
        <p:spPr>
          <a:xfrm>
            <a:off x="843199" y="910326"/>
            <a:ext cx="1034657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Aceste criterii urmăresc calitatea soluției și maturitatea implementării.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Context Recycling / Context Compression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Gestionarea inteligentă a contextului atunci când se apropie limita de tokeni.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Cost Optimization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Reducerea dimensiunii prompturilor și încărcarea doar a informațiilor relevante.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Robust Error Handling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Tratarea elegantă a erorilor de rețea, API și fișiere lipsă.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Fallback Strategy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Comportament alternativ atunci când modelul nu poate răspunde sau Retrieval-ul nu găsește informații relevante.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Scalability &amp; Extensibility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Arhitectură care permite adăugarea facilă de tool-uri, facts și procedures.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Code Quality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Correctness, Robustness, Clarity și Readability.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Cod pregătit pentru Code Review.</a:t>
            </a:r>
          </a:p>
        </p:txBody>
      </p:sp>
    </p:spTree>
    <p:extLst>
      <p:ext uri="{BB962C8B-B14F-4D97-AF65-F5344CB8AC3E}">
        <p14:creationId xmlns:p14="http://schemas.microsoft.com/office/powerpoint/2010/main" val="187894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ABDC586-9424-25BC-30A3-206380CA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FE1D3009-6324-8976-CB34-764F96ABDC8F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B2308764-2939-0FE7-D103-90C407E72E42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313BFC94-4CAE-BA36-2E90-17B348F111FE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fr-FR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OPTIONAL ENHANCEMENTS</a:t>
            </a:r>
            <a:endParaRPr lang="it-IT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92F94EA8-ABC8-4BC6-225E-FFE0D1F40FA1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D14B3C63-0929-96C7-FFBF-56E77181F0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CCF69674-1E36-E848-1BBE-D7392CFE4449}"/>
              </a:ext>
            </a:extLst>
          </p:cNvPr>
          <p:cNvSpPr txBox="1"/>
          <p:nvPr/>
        </p:nvSpPr>
        <p:spPr>
          <a:xfrm>
            <a:off x="803443" y="754348"/>
            <a:ext cx="4782349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Persistence &amp; Sessions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Session Management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Multiple Conversations per User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Export / Import Conversation History (1p)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User Interface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Improved CLI Experience (1p)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Colored Terminal UI (1p)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Interactive Menu System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Minimal Web UI (3p)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Backend &amp; Architecture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HTTP Backend Service (3p)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REST API Endpoints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Multi-user Support (3p)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AI Features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Extra Tool (1p / tool, max 3p)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Dynamic Tool Discovery (3p)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Parallel Tool Execution (3p)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Multi-step Tool Reasoning (4p)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" name="Google Shape;169;p22">
            <a:extLst>
              <a:ext uri="{FF2B5EF4-FFF2-40B4-BE49-F238E27FC236}">
                <a16:creationId xmlns:a16="http://schemas.microsoft.com/office/drawing/2014/main" id="{6641277A-0347-C92F-424B-2599B109EAE1}"/>
              </a:ext>
            </a:extLst>
          </p:cNvPr>
          <p:cNvSpPr txBox="1"/>
          <p:nvPr/>
        </p:nvSpPr>
        <p:spPr>
          <a:xfrm>
            <a:off x="6095999" y="912998"/>
            <a:ext cx="4782349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Knowledge &amp; Retrieval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Chunk Overlap Strategy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Retrieval Thresholds &amp; Tuning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Embedding Cache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Incremental Re-indexing (3p)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 Orchestration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Multiple Models for Different Tasks (4p)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Dedicated Embedding Model + Chat Model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Automatic Model Selection (4p)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Observability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Structured Logging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Performance Metrics (2p)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□ Prompt / Token Analytics Dashboard (3p)</a:t>
            </a:r>
          </a:p>
        </p:txBody>
      </p:sp>
    </p:spTree>
    <p:extLst>
      <p:ext uri="{BB962C8B-B14F-4D97-AF65-F5344CB8AC3E}">
        <p14:creationId xmlns:p14="http://schemas.microsoft.com/office/powerpoint/2010/main" val="292927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Widescreen</PresentationFormat>
  <Paragraphs>235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Jost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George Flurche</cp:lastModifiedBy>
  <cp:revision>62</cp:revision>
  <dcterms:modified xsi:type="dcterms:W3CDTF">2026-07-15T20:21:39Z</dcterms:modified>
</cp:coreProperties>
</file>